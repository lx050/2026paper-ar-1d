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ef1628d99f4684" /><Relationship Type="http://schemas.openxmlformats.org/officeDocument/2006/relationships/extended-properties" Target="/docProps/app.xml" Id="Ra405e9c2ec2845cd" /><Relationship Type="http://schemas.openxmlformats.org/officeDocument/2006/relationships/officeDocument" Target="/ppt/presentation.xml" Id="R311a357b3c3c45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bc1b4cc9ae4a72"/>
  </p:sldMasterIdLst>
  <p:notesMasterIdLst>
    <p:notesMasterId xmlns:r="http://schemas.openxmlformats.org/officeDocument/2006/relationships" r:id="Rff4197cbf3274213"/>
  </p:notesMasterIdLst>
  <p:sldIdLst>
    <p:sldId xmlns:r="http://schemas.openxmlformats.org/officeDocument/2006/relationships" id="256" r:id="R6e45aa730fea4125"/>
    <p:sldId xmlns:r="http://schemas.openxmlformats.org/officeDocument/2006/relationships" id="257" r:id="R4feccbc0098a4856"/>
    <p:sldId xmlns:r="http://schemas.openxmlformats.org/officeDocument/2006/relationships" id="258" r:id="Rb598b988ce3142e1"/>
    <p:sldId xmlns:r="http://schemas.openxmlformats.org/officeDocument/2006/relationships" id="259" r:id="R17b96f111f1b4011"/>
    <p:sldId xmlns:r="http://schemas.openxmlformats.org/officeDocument/2006/relationships" id="260" r:id="R514badfde74545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c1b4cc9ae4a72" /><Relationship Type="http://schemas.openxmlformats.org/officeDocument/2006/relationships/theme" Target="/ppt/theme/theme1.xml" Id="R31127ee456c3472f" /><Relationship Type="http://schemas.openxmlformats.org/officeDocument/2006/relationships/notesMaster" Target="/ppt/notesMasters/notesMaster1.xml" Id="Rff4197cbf3274213" /><Relationship Type="http://schemas.openxmlformats.org/officeDocument/2006/relationships/presProps" Target="/ppt/presProps.xml" Id="R74a27e2034d24bb9" /><Relationship Type="http://schemas.openxmlformats.org/officeDocument/2006/relationships/viewProps" Target="/ppt/viewProps.xml" Id="R178825419fff42b6" /><Relationship Type="http://schemas.openxmlformats.org/officeDocument/2006/relationships/tableStyles" Target="/ppt/tableStyles.xml" Id="Rbb5de6a3820e40fd" /><Relationship Type="http://schemas.openxmlformats.org/officeDocument/2006/relationships/slide" Target="/ppt/slides/slide1.xml" Id="R6e45aa730fea4125" /><Relationship Type="http://schemas.openxmlformats.org/officeDocument/2006/relationships/slide" Target="/ppt/slides/slide2.xml" Id="R4feccbc0098a4856" /><Relationship Type="http://schemas.openxmlformats.org/officeDocument/2006/relationships/slide" Target="/ppt/slides/slide3.xml" Id="Rb598b988ce3142e1" /><Relationship Type="http://schemas.openxmlformats.org/officeDocument/2006/relationships/slide" Target="/ppt/slides/slide4.xml" Id="R17b96f111f1b4011" /><Relationship Type="http://schemas.openxmlformats.org/officeDocument/2006/relationships/slide" Target="/ppt/slides/slide5.xml" Id="R514badfde74545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19ea42a75124d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81d0d9a3e6485d" /><Relationship Type="http://schemas.openxmlformats.org/officeDocument/2006/relationships/notesMaster" Target="/ppt/notesMasters/notesMaster1.xml" Id="Rae9f2d626e0f41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00578dc6e04ae8" /><Relationship Type="http://schemas.openxmlformats.org/officeDocument/2006/relationships/notesMaster" Target="/ppt/notesMasters/notesMaster1.xml" Id="R6bf2e76886b241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77d178f5094977" /><Relationship Type="http://schemas.openxmlformats.org/officeDocument/2006/relationships/notesMaster" Target="/ppt/notesMasters/notesMaster1.xml" Id="R62d98f68058647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5af4b641ea4f6d" /><Relationship Type="http://schemas.openxmlformats.org/officeDocument/2006/relationships/notesMaster" Target="/ppt/notesMasters/notesMaster1.xml" Id="Rcfaed348535540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563a8aeca64a61" /><Relationship Type="http://schemas.openxmlformats.org/officeDocument/2006/relationships/notesMaster" Target="/ppt/notesMasters/notesMaster1.xml" Id="Rcbc07a326ff24e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e5bd437f34cd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8a88ab8c49b41b9" /><Relationship Type="http://schemas.openxmlformats.org/officeDocument/2006/relationships/slideLayout" Target="/ppt/slideLayouts/slideLayout2.xml" Id="Rf08458010c2d4e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8458010c2d4e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48691a782340a1" /><Relationship Type="http://schemas.openxmlformats.org/officeDocument/2006/relationships/notesSlide" Target="/ppt/notesSlides/notesSlide1.xml" Id="R447d3c4a00984f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6e804e481e4835" /><Relationship Type="http://schemas.openxmlformats.org/officeDocument/2006/relationships/notesSlide" Target="/ppt/notesSlides/notesSlide2.xml" Id="Rde5d0926d24546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1037aeaa4f4092" /><Relationship Type="http://schemas.openxmlformats.org/officeDocument/2006/relationships/image" Target="/ppt/media/image.png" Id="R4d4ab37747214bf1" /><Relationship Type="http://schemas.openxmlformats.org/officeDocument/2006/relationships/notesSlide" Target="/ppt/notesSlides/notesSlide3.xml" Id="R7f038d7676524b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c34dca7cbd4d35" /><Relationship Type="http://schemas.openxmlformats.org/officeDocument/2006/relationships/notesSlide" Target="/ppt/notesSlides/notesSlide4.xml" Id="R93aba54d217445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c0cd190ce145be" /><Relationship Type="http://schemas.openxmlformats.org/officeDocument/2006/relationships/image" Target="/ppt/media/image2.png" Id="R9743523d28174a4f" /><Relationship Type="http://schemas.openxmlformats.org/officeDocument/2006/relationships/notesSlide" Target="/ppt/notesSlides/notesSlide5.xml" Id="Rfb2b6a33f93b4b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859411-37AC-4E1C-8510-B880C900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2CB19-A3FF-4DB0-96B9-1ABDF89A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7620">
            <a:solidFill>
              <a:srgbClr val="CED7D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D3893-9DFE-4F06-AC02-5DA0D788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TECH ROADMAP | subject consistency entry points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DBFAB-FE27-4A01-B8C9-41248798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AR图像生成技术路线图：从空间token到语义token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BF810-D0D9-4F53-897D-1D45C12C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571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25172-023F-4D9A-B3A0-E422AA42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核心判断：AR图像生成正在从“按空间格子预测”转向“按语义与高熵表征组织生成”；主体一致性的机会点出现在 tokenizer 排列、身份块注意力和可回写精炼。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68219-0E43-4F4A-9D04-CFDEF00C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64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4B3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BDA30-10B7-49B4-8C51-3656EA5A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781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8E5F8"/>
          </a:solidFill>
          <a:ln xmlns:a="http://schemas.openxmlformats.org/drawingml/2006/main" w="11430">
            <a:solidFill>
              <a:srgbClr val="2F64B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AR追平扩散</a:t>
            </a:r>
          </a:p>
          <a:p xmlns:a="http://schemas.openxmlformats.org/drawingml/2006/main">
            <a:pPr algn="ctr">
              <a:def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VAR / LlamaGen / Emu3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E1C23-9CDA-4915-98DA-B9EC609E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82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8221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1C206-C0DF-4628-A2EE-F1C4A111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85950"/>
            <a:ext cx="2781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E2BC"/>
          </a:solidFill>
          <a:ln xmlns:a="http://schemas.openxmlformats.org/drawingml/2006/main" w="11430">
            <a:solidFill>
              <a:srgbClr val="B9822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高分辨率与混合架构</a:t>
            </a:r>
          </a:p>
          <a:p xmlns:a="http://schemas.openxmlformats.org/drawingml/2006/main">
            <a:pPr algn="ctr">
              <a:def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SimpleAR / Infinity / OmniGen2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7AA31-A076-4B74-BCB9-2D95ABD1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71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75300-A618-4DE9-A380-4B5E5F20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2781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CFE8DE"/>
          </a:solidFill>
          <a:ln xmlns:a="http://schemas.openxmlformats.org/drawingml/2006/main" w="11430">
            <a:solidFill>
              <a:srgbClr val="287D6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Token范式重构</a:t>
            </a:r>
          </a:p>
          <a:p xmlns:a="http://schemas.openxmlformats.org/drawingml/2006/main">
            <a:pPr algn="ctr">
              <a:def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EOSTok / SemTok / BitDance / GRN</a:t>
            </a:r>
          </a:p>
        </p:txBody>
      </p:sp>
      <p:cxnSp>
        <p:nvCxnSpPr>
          <p:cNvPr id="1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24250" y="22955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3044"/>
            </a:solidFill>
            <a:prstDash val="solid"/>
            <a:headEnd type="arrow" w="med" len="med"/>
          </a:ln>
        </p:spPr>
      </p:cxnSp>
      <p:cxnSp>
        <p:nvCxnSpPr>
          <p:cNvPr id="1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62800" y="22955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3044"/>
            </a:solidFill>
            <a:prstDash val="solid"/>
            <a:head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686BF-782A-4757-AFB5-0C600C28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71700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044"/>
          </a:solidFill>
          <a:ln xmlns:a="http://schemas.openxmlformats.org/drawingml/2006/main" w="4763">
            <a:solidFill>
              <a:srgbClr val="2530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FB067-A2DF-4326-A931-8BA6FA62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044"/>
          </a:solidFill>
          <a:ln xmlns:a="http://schemas.openxmlformats.org/drawingml/2006/main" w="4763">
            <a:solidFill>
              <a:srgbClr val="2530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08C3F-37CC-463A-A36D-0C2F678E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7D6B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rPr>
              <a:t>表征层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252E69-39DC-4C95-8222-8EC1995A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6230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2D空间token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FC851-62A1-4AF6-A814-9BFA7088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6230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87D6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rPr>
              <a:t>1D语义token</a:t>
            </a:r>
          </a:p>
        </p:txBody>
      </p:sp>
      <p:cxnSp>
        <p:nvCxnSpPr>
          <p:cNvPr id="2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600450" y="34861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D6B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10B40-76F9-4A33-8117-BF75BD33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D6B"/>
          </a:solidFill>
          <a:ln xmlns:a="http://schemas.openxmlformats.org/drawingml/2006/main" w="4763">
            <a:solidFill>
              <a:srgbClr val="287D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F80E4-DFAF-4FB3-8294-EA066D1B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6230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二值token / 连续头</a:t>
            </a:r>
          </a:p>
        </p:txBody>
      </p:sp>
      <p:cxnSp>
        <p:nvCxnSpPr>
          <p:cNvPr id="23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029325" y="34861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D6B"/>
            </a:solidFill>
            <a:prstDash val="solid"/>
            <a:head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0842A-6823-4B94-B37D-9B286B44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9090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D6B"/>
          </a:solidFill>
          <a:ln xmlns:a="http://schemas.openxmlformats.org/drawingml/2006/main" w="4763">
            <a:solidFill>
              <a:srgbClr val="287D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6866E-1068-4873-B6A2-288E0B23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6230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HBQ近无损latent</a:t>
            </a:r>
          </a:p>
        </p:txBody>
      </p:sp>
      <p:cxnSp>
        <p:nvCxnSpPr>
          <p:cNvPr id="26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458200" y="34861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87D6B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D666B9-B7FF-4AA3-8B8C-4D0BBD71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D6B"/>
          </a:solidFill>
          <a:ln xmlns:a="http://schemas.openxmlformats.org/drawingml/2006/main" w="4763">
            <a:solidFill>
              <a:srgbClr val="287D6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96E07A-EC24-4A47-9DBB-A94E8528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5F45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生成层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D4148-F66B-4FDC-A51A-DA61E052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next-token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972D84-78F7-4CD4-A7CA-A4A4D457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1955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next-scale</a:t>
            </a:r>
          </a:p>
        </p:txBody>
      </p:sp>
      <p:cxnSp>
        <p:nvCxnSpPr>
          <p:cNvPr id="31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600450" y="434340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5F45"/>
            </a:solidFill>
            <a:prstDash val="solid"/>
            <a:head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10DDF2-C4EA-4EE7-9468-AC965002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5F45"/>
          </a:solidFill>
          <a:ln xmlns:a="http://schemas.openxmlformats.org/drawingml/2006/main" w="4763">
            <a:solidFill>
              <a:srgbClr val="D45F4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918F8-177A-41C9-8A0C-C8426BA8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1955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next-patch diffusion</a:t>
            </a:r>
          </a:p>
        </p:txBody>
      </p:sp>
      <p:cxnSp>
        <p:nvCxnSpPr>
          <p:cNvPr id="34" name=""/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029325" y="434340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5F45"/>
            </a:solidFill>
            <a:prstDash val="solid"/>
            <a:head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6D5C24-89B0-4BE9-927A-B3D3A070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481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5F45"/>
          </a:solidFill>
          <a:ln xmlns:a="http://schemas.openxmlformats.org/drawingml/2006/main" w="4763">
            <a:solidFill>
              <a:srgbClr val="D45F4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D08174-8E1A-48E3-B0F2-1EE8DF3F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1955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global refinement</a:t>
            </a:r>
          </a:p>
        </p:txBody>
      </p:sp>
      <p:cxnSp>
        <p:nvCxnSpPr>
          <p:cNvPr id="37" name=""/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458200" y="434340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5F45"/>
            </a:solidFill>
            <a:prstDash val="solid"/>
            <a:head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FB3A7F-EDDF-46A2-B336-E10CF00D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5F45"/>
          </a:solidFill>
          <a:ln xmlns:a="http://schemas.openxmlformats.org/drawingml/2006/main" w="4763">
            <a:solidFill>
              <a:srgbClr val="D45F4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743EE1-40EC-410D-823B-E6A7016B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56B7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95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56B7"/>
                </a:solidFill>
                <a:latin typeface="Microsoft YaHei"/>
                <a:ea typeface="Microsoft YaHei"/>
                <a:cs typeface="Microsoft YaHei"/>
              </a:rPr>
              <a:t>一致性层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3F52E2-474B-45FE-8A27-AE99B1FF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7680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无显式身份通道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ECB84C-6408-414D-B0FF-1887ED67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87680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956B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95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56B7"/>
                </a:solidFill>
                <a:latin typeface="Microsoft YaHei"/>
                <a:ea typeface="Microsoft YaHei"/>
                <a:cs typeface="Microsoft YaHei"/>
              </a:rPr>
              <a:t>身份token可聚类</a:t>
            </a:r>
          </a:p>
        </p:txBody>
      </p:sp>
      <p:cxnSp>
        <p:nvCxnSpPr>
          <p:cNvPr id="4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600450" y="52006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956B7"/>
            </a:solidFill>
            <a:prstDash val="solid"/>
            <a:headEnd type="arrow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92C15B-ED74-4C42-8CF2-2664C25F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56B7"/>
          </a:solidFill>
          <a:ln xmlns:a="http://schemas.openxmlformats.org/drawingml/2006/main" w="4763">
            <a:solidFill>
              <a:srgbClr val="6956B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3A3244-A421-47E2-8DC5-781009F6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7680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容量/速度baseline</a:t>
            </a:r>
          </a:p>
        </p:txBody>
      </p:sp>
      <p:cxnSp>
        <p:nvCxnSpPr>
          <p:cNvPr id="45" name=""/>
          <p:cNvCxnSpPr>
            <a:stCxn xmlns:a="http://schemas.openxmlformats.org/drawingml/2006/main" id="41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6029325" y="52006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956B7"/>
            </a:solidFill>
            <a:prstDash val="solid"/>
            <a:headEnd type="arrow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73779A-FE12-41D0-BC17-BEBC18D5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0540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56B7"/>
          </a:solidFill>
          <a:ln xmlns:a="http://schemas.openxmlformats.org/drawingml/2006/main" w="4763">
            <a:solidFill>
              <a:srgbClr val="6956B7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EFE57F-007C-477D-9531-85832D9E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7680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漂移后可回写</a:t>
            </a:r>
          </a:p>
        </p:txBody>
      </p:sp>
      <p:cxnSp>
        <p:nvCxnSpPr>
          <p:cNvPr id="48" name="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458200" y="52006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956B7"/>
            </a:solidFill>
            <a:prstDash val="solid"/>
            <a:headEnd type="arrow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3C279A-81BF-4F29-9AC6-646D1239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0540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956B7"/>
          </a:solidFill>
          <a:ln xmlns:a="http://schemas.openxmlformats.org/drawingml/2006/main" w="4763">
            <a:solidFill>
              <a:srgbClr val="6956B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FF0829-E9FF-4832-932D-092357EB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91200"/>
            <a:ext cx="8458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3044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本汇报聚焦：EOSTok 作为语义token路线；BitDance 作为高熵二值token baseline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DABE99-9F05-48B4-898C-AE6C9382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246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7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F29F77-33D4-46E8-A00E-0F1D657F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Sources: VAR arXiv:2404.02905; EOSTok arXiv:2605.00503; BitDance arXiv:2602.14041; GRN arXiv:2604.13030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D9350D-BCFB-45C0-BCB2-E0E2B12A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00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AR图像生成与1D语义Token · 主体一致性调研</a:t>
            </a:r>
          </a:p>
        </p:txBody>
      </p:sp>
    </p:spTree>
    <p:extLst>
      <p:ext uri="{BB962C8B-B14F-4D97-AF65-F5344CB8AC3E}">
        <p14:creationId xmlns:p14="http://schemas.microsoft.com/office/powerpoint/2010/main" val="6098667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BDE524-1A59-40BC-8887-11F8C1E8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73F0C-BFBB-47A0-94A6-4DAA1443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7620">
            <a:solidFill>
              <a:srgbClr val="CED7D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7BEF3-A614-4D20-A94C-85163F06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PAPER ABSTRACT | main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AB0B8-38B3-4FBB-BD86-066B4950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EOSTok 摘要：端到端 1D 语义 tokenizer 让 AR 看见语义结构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5A4F1-6720-4ABC-AB1A-873C2297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571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88ADD-ED10-461A-9113-8E59C817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3219450" cy="43053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87D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7CF21-9162-4003-9D9E-364FC3D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FE8DE"/>
          </a:solidFill>
          <a:ln xmlns:a="http://schemas.openxmlformats.org/drawingml/2006/main" w="9525">
            <a:solidFill>
              <a:srgbClr val="287D6B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rPr>
              <a:t>EOSTok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B277F-61E9-4C24-9B1C-8F88BCB0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495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End-to-End Autoregressive Image Generation with 1D Semantic Tokenizer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E7AC3-627E-4526-A34C-F577F30A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63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ICML 2026 Spotlight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ByteDance Seed / Caltech / Stanford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1046D-0ACD-42ED-B1F7-93EDE263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5430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7D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105C4-6486-4831-9CF5-6CA47987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rPr>
              <a:t>FID 1.48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CC4EB-8C4C-4870-97E3-6F1951AB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33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412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ImageNet 256² / no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0B25B-BD99-45BF-A5D0-03E69245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14700"/>
            <a:ext cx="15430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7D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459EB-04A9-43E2-ACFD-73612B51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290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rPr>
              <a:t>1D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B4E28-2DC3-4414-854E-4E147DEE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433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按语义组织视觉序列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0BBA0-3875-497B-85AB-3ABFDB87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91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研究位置：不是单纯换一个 codebook，而是让 tokenizer 在训练时直接感知下游 AR 生成目标。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56046-520E-4ECD-8B35-80D158C4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143000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5F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C7A73-C097-4B88-ACE5-121374A6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1445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6D8CC"/>
          </a:solidFill>
          <a:ln xmlns:a="http://schemas.openxmlformats.org/drawingml/2006/main" w="9525">
            <a:solidFill>
              <a:srgbClr val="D45F45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5AD9B-F6A4-48B0-A62F-BFB1C958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4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传统视觉 tokenizer 输出固定 2D 网格，AR 只能按光栅或尺度顺序预测；身份、姿态、背景在 token 序列里被混在一起。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B32DA-E0DA-432D-90C9-38B9216D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43000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87D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63AF7-50AF-4E16-9845-52281233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FE8DE"/>
          </a:solidFill>
          <a:ln xmlns:a="http://schemas.openxmlformats.org/drawingml/2006/main" w="9525">
            <a:solidFill>
              <a:srgbClr val="287D6B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6301B-A9AA-49CF-8017-6FB68DD5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EOSTok 将图像压缩成 1D 语义 token，并用端到端训练把重建目标与生成目标联合起来，让 tokenizer 受 AR 结果反馈。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D5ED5-F268-4553-9C16-6F3DB6F2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F64B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71A71-AFDD-42DD-B935-30A560FA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1470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8E5F8"/>
          </a:solidFill>
          <a:ln xmlns:a="http://schemas.openxmlformats.org/drawingml/2006/main" w="9525">
            <a:solidFill>
              <a:srgbClr val="2F64B3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4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4B3"/>
                </a:solidFill>
                <a:latin typeface="Microsoft YaHei"/>
                <a:ea typeface="Microsoft YaHei"/>
                <a:cs typeface="Microsoft YaHei"/>
              </a:rPr>
              <a:t>创新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67A8F-AB5A-4B90-9DFE-04D0588E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4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相比先训 tokenizer 再训生成器，EOSTok 把 tokenizer 作为生成系统的一部分优化；同时利用视觉基础模型增强 1D token 的语义性。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DA6109-D73D-4247-84EE-F8436871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956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2CC122-2B56-4801-B87C-BAB0B4DC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3DDF7"/>
          </a:solidFill>
          <a:ln xmlns:a="http://schemas.openxmlformats.org/drawingml/2006/main" w="9525">
            <a:solidFill>
              <a:srgbClr val="6956B7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773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95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56B7"/>
                </a:solidFill>
                <a:latin typeface="Microsoft YaHei"/>
                <a:ea typeface="Microsoft YaHei"/>
                <a:cs typeface="Microsoft YaHei"/>
              </a:rPr>
              <a:t>一致性启示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8B61A-DBD8-4126-94A1-CE45FCEB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2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若身份 token 在 1D 序列中形成稳定块，AR 可增强身份块 attention，或将身份块前置来减轻长程衰减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CB357-123D-4B95-AF34-BE1301EC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76850"/>
            <a:ext cx="6686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7D6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510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汇报一句话：EOSTok 的价值不只是“FID更好”，而是把视觉token从空间索引变成语义单位，为主体一致性提供结构先验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029094-BF09-4B2F-8755-4F50902D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246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D419A8-BF07-4A11-883C-31C61470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EOSTok, arXiv:2605.00503, submitted 2026-05-01, ICML 2026 Spotlight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DE465A-B692-465F-BE1E-35CDAA51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00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AR图像生成与1D语义Token · 主体一致性调研</a:t>
            </a:r>
          </a:p>
        </p:txBody>
      </p:sp>
    </p:spTree>
    <p:extLst>
      <p:ext uri="{BB962C8B-B14F-4D97-AF65-F5344CB8AC3E}">
        <p14:creationId xmlns:p14="http://schemas.microsoft.com/office/powerpoint/2010/main" val="3339154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B44727-7B2B-4E58-8114-C40D0DF6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7BF98-DB35-4084-ABB6-C96049D9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7620">
            <a:solidFill>
              <a:srgbClr val="CED7D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CB482-3F7B-4FD7-8781-218887A8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 FIGURE | EOSTok Figure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4DCF6-0CA4-4B1B-BF8D-85AE3914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EOSTok 原论文图：端到端训练把 tokenizer 与 AR 生成器绑在一起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387BC-C4B1-4803-B7EB-69C0BC6D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571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65B47-4562-4468-ABE8-4ADD9115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87D6B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ab37747214bf1"/>
          <a:stretch xmlns:a="http://schemas.openxmlformats.org/drawingml/2006/main"/>
        </p:blipFill>
        <p:spPr>
          <a:xfrm xmlns:a="http://schemas.openxmlformats.org/drawingml/2006/main">
            <a:off x="732367" y="1066800"/>
            <a:ext cx="10727267" cy="3448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09C8A-5318-48AA-989E-6E38DEF1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FE8DE"/>
          </a:solidFill>
          <a:ln xmlns:a="http://schemas.openxmlformats.org/drawingml/2006/main" w="9525">
            <a:solidFill>
              <a:srgbClr val="287D6B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rPr>
              <a:t>原论文 Figure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360BE-CBD4-4006-B087-D010960F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1040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61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图中关键：VFM(DINOv2)提供语义表征；1D causal ViT encoder 产出 latent token；AR Transformer 的 next-token loss 反向约束 tokenizer；APR/decoder alignment 把 AR 预测重新拉回像素空间。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5DC61-659C-4086-9EE8-63059F0A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105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87D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3C075-5EDF-435A-8BBD-32DBA8B8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1295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FE8DE"/>
          </a:solidFill>
          <a:ln xmlns:a="http://schemas.openxmlformats.org/drawingml/2006/main" w="9525">
            <a:solidFill>
              <a:srgbClr val="287D6B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9668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rPr>
              <a:t>为什么利于一致性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D8372-ABAA-4659-9830-403303E0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567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tokenizer 被生成损失监督，语义 token 不只是重建压缩码。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4ED23-EE41-4589-8E6C-073719DA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43500"/>
            <a:ext cx="3105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956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DC052-698F-4CF9-A30D-F373213D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76850"/>
            <a:ext cx="1295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3DDF7"/>
          </a:solidFill>
          <a:ln xmlns:a="http://schemas.openxmlformats.org/drawingml/2006/main" w="9525">
            <a:solidFill>
              <a:srgbClr val="6956B7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95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56B7"/>
                </a:solidFill>
                <a:latin typeface="Microsoft YaHei"/>
                <a:ea typeface="Microsoft YaHei"/>
                <a:cs typeface="Microsoft YaHei"/>
              </a:rPr>
              <a:t>可研究的身份块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5BA01-1307-44C2-A052-0C037962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007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69836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若身份相关 token 稳定聚集，可做身份块前置或 attention 增强。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2D636-55BB-4EE7-8DF5-55683820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43500"/>
            <a:ext cx="3105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5F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155D6-69C4-4C4E-9F5B-BB82D64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76850"/>
            <a:ext cx="1295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6D8CC"/>
          </a:solidFill>
          <a:ln xmlns:a="http://schemas.openxmlformats.org/drawingml/2006/main" w="9525">
            <a:solidFill>
              <a:srgbClr val="D45F45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区别于扩散控制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03873-63EF-4087-B0FB-23C0D5C5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007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7721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一致性约束可前移到 token 排列，而非只在采样阶段补救。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1E6C1-318C-4CBD-A987-BB570CA4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246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A3416-85B8-4A6D-9A3C-56107587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 figure: EOSTok Figure 2, arXiv:2605.00503; Chinese callouts are interpretation for subject consistency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B7580-70F7-4519-978C-2DBEBDD1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00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AR图像生成与1D语义Token · 主体一致性调研</a:t>
            </a:r>
          </a:p>
        </p:txBody>
      </p:sp>
    </p:spTree>
    <p:extLst>
      <p:ext uri="{BB962C8B-B14F-4D97-AF65-F5344CB8AC3E}">
        <p14:creationId xmlns:p14="http://schemas.microsoft.com/office/powerpoint/2010/main" val="13750435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7F9287-CE03-4323-8B8E-8DCBA0C7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5F86A-1B8E-4C44-9A73-9EF372F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7620">
            <a:solidFill>
              <a:srgbClr val="CED7D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A285E-718F-44F7-A2A8-95517465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PAPER ABSTRACT | baseline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DB3CE-B8F3-4607-837B-D384AF7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BitDance 摘要：用高熵二值token做强AR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25B53-6567-4B0C-A707-37CB7A76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571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F5EAA-8E70-446D-A798-3FACF475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3238500" cy="43624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45F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BED54-5F12-433C-9F36-E637F4B5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6D8CC"/>
          </a:solidFill>
          <a:ln xmlns:a="http://schemas.openxmlformats.org/drawingml/2006/main" w="9525">
            <a:solidFill>
              <a:srgbClr val="D45F45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BitDance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16210-B9C2-476F-9510-4CE2AC1A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495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Scaling Autoregressive Generative Models with Binary 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3F50D-90CF-4C23-8530-7DD7E167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2026.02 | ByteDance + CUHK + SJTU + CAS + NUS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7038F-A834-4BE3-8DE7-5C56DCC6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5430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5F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1113E-92AF-4648-8489-6E94F818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FID 1.24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95D84-4756-45C4-924D-8218702F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33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729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ImageNet 256² / AR最优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49857-388B-4991-83AE-039EED1B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14700"/>
            <a:ext cx="15430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5F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E77C2-38FE-4545-8A45-D7B499C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290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260M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2A487-88F6-4C9C-97FC-905BB9C8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433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参数规模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1A56F-1E11-482C-BC05-6853E809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baseline 角色：检验“强 token 容量与高效解码”本身能否带来一致性，而不是语义分组带来的收益。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B85E8-38B5-489C-8D65-44C07635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23975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D8CC"/>
          </a:solidFill>
          <a:ln xmlns:a="http://schemas.openxmlformats.org/drawingml/2006/main" w="9525">
            <a:solidFill>
              <a:srgbClr val="D45F45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F1321-DE66-44CC-853E-F9334942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00150"/>
            <a:ext cx="4972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VQ codebook 索引的词表容量有限；超大词表 softmax 代价高，长序列 AR 推理慢。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826B1-2771-4D60-AE61-ECCC0861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615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40430-3864-4506-91E1-67FEBE9E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D8CC"/>
          </a:solidFill>
          <a:ln xmlns:a="http://schemas.openxmlformats.org/drawingml/2006/main" w="9525">
            <a:solidFill>
              <a:srgbClr val="D45F45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A0C0B-5404-4A71-9607-6985BB2F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14550"/>
            <a:ext cx="4972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把视觉 token 二值化：每个 token 是高维二进制向量，理论状态数最高可达 2^256。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DCC8A-358C-4134-90ED-97EA61F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615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7DC39-C0EB-470F-8E86-12612277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52775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8E5F8"/>
          </a:solidFill>
          <a:ln xmlns:a="http://schemas.openxmlformats.org/drawingml/2006/main" w="9525">
            <a:solidFill>
              <a:srgbClr val="2F64B3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4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4B3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5D744-6D00-4589-A4B2-6B6DAE80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28950"/>
            <a:ext cx="4972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不用标准分类头，而用 binary diffusion head 在连续超立方体顶点附近预测二值 token。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DC1752-BCF3-4786-AE0F-A828792F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71900"/>
            <a:ext cx="615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AA13E4-4D4A-477E-9D20-4054FFF1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67175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D8CC"/>
          </a:solidFill>
          <a:ln xmlns:a="http://schemas.openxmlformats.org/drawingml/2006/main" w="9525">
            <a:solidFill>
              <a:srgbClr val="D45F45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加速策略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D3F119-066B-487D-B512-5622DFA0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3350"/>
            <a:ext cx="4972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next-patch diffusion 并行预测多个 token，在保持质量的同时提升吞吐。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05C70-B08A-4949-8F33-0A545FED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86300"/>
            <a:ext cx="615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3BE41F-0935-41AB-A4E3-1AB6456A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33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6D8CC"/>
          </a:solidFill>
          <a:ln xmlns:a="http://schemas.openxmlformats.org/drawingml/2006/main" w="11430">
            <a:solidFill>
              <a:srgbClr val="D45F45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为什么适合作 baseline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44FFBC-E1C3-4767-88BD-539FD4ED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57750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BitDance 是“表征容量/效率”路线的代表；EOSTok 是“语义组织”路线的代表。两者对比能把主体一致性的来源拆开：语义排列 vs 高熵token表达。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3319E4-987A-462D-939B-70CAEDB1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246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F097A5-C590-480E-B1D6-DE46CD3F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BitDance, arXiv:2602.14041, submitted 2026-02-15; reported FID 1.24, 260M params, 8.7x speedup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FE2AB7-F11D-4A7F-8D75-D62E1CF1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00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AR图像生成与1D语义Token · 主体一致性调研</a:t>
            </a:r>
          </a:p>
        </p:txBody>
      </p:sp>
    </p:spTree>
    <p:extLst>
      <p:ext uri="{BB962C8B-B14F-4D97-AF65-F5344CB8AC3E}">
        <p14:creationId xmlns:p14="http://schemas.microsoft.com/office/powerpoint/2010/main" val="10853606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B5E3F3-0B4F-40AD-A177-964A9A29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7ADED-BC65-467F-B3B0-17BD3DF2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7620">
            <a:solidFill>
              <a:srgbClr val="CED7D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CE5C0-49FE-45F0-8188-BB28C043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 FIGURE | BitDance Figure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A41F3-3B6B-4773-AFB3-D331B434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BitDance 原论文图：binary token baseline 的训练与解码架构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5680A-CDA1-4423-804E-A04E6321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571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A7ECE-5AEE-44D2-BB59-3A2D9975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0200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45F45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3523d28174a4f"/>
          <a:stretch xmlns:a="http://schemas.openxmlformats.org/drawingml/2006/main"/>
        </p:blipFill>
        <p:spPr>
          <a:xfrm xmlns:a="http://schemas.openxmlformats.org/drawingml/2006/main">
            <a:off x="594035" y="1047750"/>
            <a:ext cx="7898780" cy="3886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3CB9C-0458-46EA-A6F5-50F075FF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6D8CC"/>
          </a:solidFill>
          <a:ln xmlns:a="http://schemas.openxmlformats.org/drawingml/2006/main" w="9525">
            <a:solidFill>
              <a:srgbClr val="D45F45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原论文 Figure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AAC99-3763-4451-8407-061DDEC3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66800"/>
            <a:ext cx="2628900" cy="38671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30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EAE33-DCAA-49C4-9305-2FC4DFB6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5730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2EA"/>
          </a:solidFill>
          <a:ln xmlns:a="http://schemas.openxmlformats.org/drawingml/2006/main" w="11430">
            <a:solidFill>
              <a:srgbClr val="D6DDD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57445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baseline 读法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82FCC-07D8-4B50-B729-8A60F553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45F45"/>
                </a:solidFill>
                <a:latin typeface="Microsoft YaHei"/>
                <a:ea typeface="Microsoft YaHei"/>
                <a:cs typeface="Microsoft YaHei"/>
              </a:rPr>
              <a:t>BitDance 原图给出三件事：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11591-8081-4E90-8FC7-A7351FFC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145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6943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1. 多模态 token 序列仍按 AR 方式训练</a:t>
            </a:r>
          </a:p>
          <a:p xmlns:a="http://schemas.openxmlformats.org/drawingml/2006/main">
            <a:pPr algn="l">
              <a:defRPr sz="1088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2. vision token 变成 binary latents</a:t>
            </a:r>
          </a:p>
          <a:p xmlns:a="http://schemas.openxmlformats.org/drawingml/2006/main">
            <a:pPr algn="l">
              <a:defRPr sz="1088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3. binary diffusion head 支持 parallel pred.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3B16B-0DD0-409D-BB80-028791F5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FAACA-C721-4CD8-A266-A0F6E8F7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29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D6B"/>
                </a:solidFill>
                <a:latin typeface="Microsoft YaHei"/>
                <a:ea typeface="Microsoft YaHei"/>
                <a:cs typeface="Microsoft YaHei"/>
              </a:rPr>
              <a:t>和 EOSTok 的差别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85A10-38CA-4E86-A60D-4745619A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599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EOSTok：语义组织与端到端 tokenizer</a:t>
            </a:r>
          </a:p>
          <a:p xmlns:a="http://schemas.openxmlformats.org/drawingml/2006/main">
            <a:pPr algn="l">
              <a:defRPr sz="1088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53044"/>
                </a:solidFill>
                <a:latin typeface="Microsoft YaHei"/>
                <a:ea typeface="Microsoft YaHei"/>
                <a:cs typeface="Microsoft YaHei"/>
              </a:rPr>
              <a:t>BitDance：二值容量与并行解码效率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2D957-2A24-4684-898E-8503632D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3044"/>
          </a:solidFill>
          <a:ln xmlns:a="http://schemas.openxmlformats.org/drawingml/2006/main" w="11430">
            <a:solidFill>
              <a:srgbClr val="253044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0561D-9A26-40D3-A9B4-E35E0284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5400"/>
            <a:ext cx="849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E"/>
                </a:solidFill>
                <a:latin typeface="Microsoft YaHei"/>
                <a:ea typeface="Microsoft YaHei"/>
                <a:cs typeface="Microsoft YaHei"/>
              </a:rPr>
              <a:t>BitDance 证明 AR 的 token 容量和速度可以非常强；EOSTok 则提供语义可控性。二者合起来，指向“高熵表征 + 语义排序 + 可回写精炼”的下一代 AR 主体一致性路线。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B69F9-38BC-4454-82A0-D453284E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246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D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8F568-6B79-45EF-BC59-3220A76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 figure: BitDance Figure 4, arXiv:2602.14041; comparison proposal is inferred from EOSTok and BitDance mechanisms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0D47B-2CB2-4EC2-8BE2-A9F15B10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00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AR图像生成与1D语义Token · 主体一致性调研</a:t>
            </a:r>
          </a:p>
        </p:txBody>
      </p:sp>
    </p:spTree>
    <p:extLst>
      <p:ext uri="{BB962C8B-B14F-4D97-AF65-F5344CB8AC3E}">
        <p14:creationId xmlns:p14="http://schemas.microsoft.com/office/powerpoint/2010/main" val="21368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2026-05-27T01:54:44.1260000Z</dcterms:created>
  <dcterms:modified xsi:type="dcterms:W3CDTF">2026-05-27T01:54:44.1260000Z</dcterms:modified>
</coreProperties>
</file>